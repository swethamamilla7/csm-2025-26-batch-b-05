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89" r:id="rId3"/>
    <p:sldId id="273" r:id="rId4"/>
    <p:sldId id="287" r:id="rId5"/>
    <p:sldId id="281" r:id="rId6"/>
    <p:sldId id="282" r:id="rId7"/>
    <p:sldId id="294" r:id="rId8"/>
    <p:sldId id="292" r:id="rId9"/>
    <p:sldId id="295" r:id="rId10"/>
    <p:sldId id="288" r:id="rId11"/>
    <p:sldId id="290" r:id="rId12"/>
    <p:sldId id="291" r:id="rId13"/>
    <p:sldId id="297" r:id="rId14"/>
    <p:sldId id="277"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06146B-DE0E-419E-AA3C-FFE40CA7A6B2}" v="74" dt="2025-12-17T13:38:18.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48"/>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24-12-2025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24-12-2025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(AI &amp; ML)</a:t>
            </a: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6636478"/>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B-05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(AI &amp; ML)</a:t>
            </a: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Crowd Safety: Predicting Stampedes in Mass Gatherings.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a:solidFill>
                  <a:schemeClr val="bg1"/>
                </a:solidFill>
                <a:latin typeface="Times New Roman" panose="02020603050405020304" pitchFamily="18" charset="0"/>
                <a:cs typeface="Times New Roman" panose="02020603050405020304" pitchFamily="18" charset="0"/>
              </a:rPr>
              <a:t>B-05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swethamamilla7/CSM-2025-26-Batch-B-0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6095991"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05"/>
              </a:spcBef>
            </a:pPr>
            <a:r>
              <a:rPr lang="en-US" sz="2600" b="0" dirty="0">
                <a:latin typeface="Times New Roman"/>
                <a:cs typeface="Times New Roman"/>
              </a:rPr>
              <a:t>SUHAIL RAZA T</a:t>
            </a:r>
          </a:p>
          <a:p>
            <a:pPr>
              <a:spcBef>
                <a:spcPts val="300"/>
              </a:spcBef>
            </a:pPr>
            <a:r>
              <a:rPr lang="en-US" sz="1200" b="0" dirty="0"/>
              <a:t>Roll No. 224G1A33B2</a:t>
            </a:r>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dirty="0"/>
              <a:t>Ms. K. Rubiya Alam, </a:t>
            </a:r>
            <a:r>
              <a:rPr lang="en-IN" sz="1200" dirty="0" err="1"/>
              <a:t>M.Tech</a:t>
            </a:r>
            <a:r>
              <a:rPr lang="en-IN" sz="1200" dirty="0"/>
              <a:t>.</a:t>
            </a:r>
            <a:r>
              <a:rPr lang="en-US" sz="1200" b="0" dirty="0">
                <a:effectLst>
                  <a:outerShdw blurRad="38100" dist="38100" dir="2700000" algn="tl">
                    <a:srgbClr val="000000">
                      <a:alpha val="43137"/>
                    </a:srgbClr>
                  </a:outerShdw>
                </a:effectLst>
              </a:rPr>
              <a:t>,</a:t>
            </a:r>
            <a:endParaRPr lang="en-IN" sz="1200" b="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(AI &amp; ML)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Autonomous</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2025-2026</a:t>
            </a:r>
            <a:endParaRPr lang="en-US" sz="2500" b="0" dirty="0"/>
          </a:p>
        </p:txBody>
      </p:sp>
      <p:sp>
        <p:nvSpPr>
          <p:cNvPr id="12" name="Subtitle 11"/>
          <p:cNvSpPr txBox="1"/>
          <p:nvPr/>
        </p:nvSpPr>
        <p:spPr>
          <a:xfrm>
            <a:off x="3802173" y="1781682"/>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05"/>
              </a:spcBef>
            </a:pPr>
            <a:r>
              <a:rPr lang="en-US" sz="5100" b="0" dirty="0"/>
              <a:t> SWETHA B </a:t>
            </a:r>
            <a:endParaRPr lang="en-US" sz="5100" b="0" dirty="0">
              <a:latin typeface="Times New Roman"/>
              <a:cs typeface="Times New Roman"/>
            </a:endParaRPr>
          </a:p>
          <a:p>
            <a:pPr>
              <a:spcBef>
                <a:spcPts val="300"/>
              </a:spcBef>
            </a:pPr>
            <a:r>
              <a:rPr lang="en-US" sz="2300" b="0" dirty="0"/>
              <a:t>Roll No. 224G1A33B7</a:t>
            </a:r>
          </a:p>
        </p:txBody>
      </p:sp>
      <p:sp>
        <p:nvSpPr>
          <p:cNvPr id="13" name="Subtitle 11"/>
          <p:cNvSpPr txBox="1"/>
          <p:nvPr/>
        </p:nvSpPr>
        <p:spPr>
          <a:xfrm>
            <a:off x="8478915" y="1777840"/>
            <a:ext cx="2853042" cy="584534"/>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05"/>
              </a:spcBef>
            </a:pPr>
            <a:r>
              <a:rPr lang="en-US" sz="3400" b="0" dirty="0">
                <a:latin typeface="Times New Roman"/>
                <a:cs typeface="Times New Roman"/>
              </a:rPr>
              <a:t>CHARAN RAJ N</a:t>
            </a:r>
          </a:p>
          <a:p>
            <a:pPr>
              <a:spcBef>
                <a:spcPts val="300"/>
              </a:spcBef>
            </a:pPr>
            <a:r>
              <a:rPr lang="en-US" sz="1600" b="0" dirty="0"/>
              <a:t>Roll No. 214G1A3315</a:t>
            </a:r>
          </a:p>
        </p:txBody>
      </p:sp>
      <p:sp>
        <p:nvSpPr>
          <p:cNvPr id="17" name="Rectangle: Rounded Corners 16"/>
          <p:cNvSpPr/>
          <p:nvPr/>
        </p:nvSpPr>
        <p:spPr>
          <a:xfrm>
            <a:off x="831898" y="34604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800" dirty="0"/>
              <a:t>Crowd Safety: Predicting Stampedes in Mass Gatherings.</a:t>
            </a:r>
            <a:endPar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4154" y="3477046"/>
            <a:ext cx="1843673" cy="1685487"/>
          </a:xfrm>
          <a:prstGeom prst="rect">
            <a:avLst/>
          </a:prstGeom>
        </p:spPr>
      </p:pic>
      <p:sp>
        <p:nvSpPr>
          <p:cNvPr id="2" name="Subtitle 11">
            <a:extLst>
              <a:ext uri="{FF2B5EF4-FFF2-40B4-BE49-F238E27FC236}">
                <a16:creationId xmlns:a16="http://schemas.microsoft.com/office/drawing/2014/main" id="{D3309479-3B68-EA53-5D15-0F9878C93033}"/>
              </a:ext>
            </a:extLst>
          </p:cNvPr>
          <p:cNvSpPr txBox="1"/>
          <p:nvPr/>
        </p:nvSpPr>
        <p:spPr>
          <a:xfrm>
            <a:off x="470528" y="1795320"/>
            <a:ext cx="3420752" cy="584534"/>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105"/>
              </a:spcBef>
            </a:pPr>
            <a:r>
              <a:rPr lang="en-US" sz="7400" b="0" dirty="0"/>
              <a:t> </a:t>
            </a:r>
            <a:r>
              <a:rPr lang="en-US" sz="9600" b="0" dirty="0"/>
              <a:t>VINAY KUMAR N  </a:t>
            </a:r>
            <a:endParaRPr lang="en-US" sz="9600" b="0" dirty="0">
              <a:latin typeface="Times New Roman"/>
              <a:cs typeface="Times New Roman"/>
            </a:endParaRPr>
          </a:p>
          <a:p>
            <a:pPr>
              <a:spcBef>
                <a:spcPts val="300"/>
              </a:spcBef>
            </a:pPr>
            <a:r>
              <a:rPr lang="en-US" sz="4400" b="0" dirty="0"/>
              <a:t>Roll No. 224G1A33C4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AA6D-7637-5E88-CF28-4D2EF60270E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p:txBody>
          <a:bodyPr>
            <a:normAutofit/>
          </a:bodyPr>
          <a:lstStyle/>
          <a:p>
            <a:pPr marL="0" indent="0">
              <a:buNone/>
            </a:pPr>
            <a:r>
              <a:rPr lang="en-US" sz="2400" b="1" dirty="0"/>
              <a:t>Review – 0 comments:</a:t>
            </a:r>
          </a:p>
          <a:p>
            <a:pPr marL="0" indent="0">
              <a:buNone/>
            </a:pPr>
            <a:r>
              <a:rPr lang="en-US" sz="2400" dirty="0"/>
              <a:t>The project may be continued. However, clarification is required regarding the camera resolution used for crowd monitoring and its suitability for accurate detection.</a:t>
            </a:r>
            <a:endParaRPr lang="en-US" sz="2400" b="1" dirty="0"/>
          </a:p>
          <a:p>
            <a:pPr marL="0" indent="0">
              <a:buNone/>
            </a:pPr>
            <a:r>
              <a:rPr lang="en-US" sz="2400" b="1" dirty="0"/>
              <a:t>Response:</a:t>
            </a:r>
            <a:endParaRPr lang="en-US" sz="2400" dirty="0"/>
          </a:p>
          <a:p>
            <a:r>
              <a:rPr lang="en-US" sz="2400" dirty="0"/>
              <a:t>A USB web camera with HD resolution (720p) is used for capturing crowd images in the proposed system..</a:t>
            </a:r>
          </a:p>
          <a:p>
            <a:r>
              <a:rPr lang="en-US" sz="2400" dirty="0"/>
              <a:t>The selected resolution provides sufficient clarity for accurate detection and counting of individuals in crowded environments.</a:t>
            </a:r>
          </a:p>
          <a:p>
            <a:r>
              <a:rPr lang="en-US" sz="2400" dirty="0"/>
              <a:t>The camera resolution supports real-time image processing on edge devices such as Raspberry Pi without performance degradation.</a:t>
            </a:r>
          </a:p>
          <a:p>
            <a:r>
              <a:rPr lang="en-US" dirty="0"/>
              <a:t>The system design allows future enhancement by upgrading to higher-resolution cameras if required.</a:t>
            </a:r>
            <a:endParaRPr lang="en-IN" dirty="0"/>
          </a:p>
        </p:txBody>
      </p:sp>
    </p:spTree>
    <p:extLst>
      <p:ext uri="{BB962C8B-B14F-4D97-AF65-F5344CB8AC3E}">
        <p14:creationId xmlns:p14="http://schemas.microsoft.com/office/powerpoint/2010/main" val="148535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 and Design</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endParaRPr lang="en-US" dirty="0"/>
          </a:p>
          <a:p>
            <a:pPr marL="0" indent="0">
              <a:buNone/>
            </a:pP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p:txBody>
          <a:bodyPr>
            <a:normAutofit fontScale="25000" lnSpcReduction="20000"/>
          </a:bodyPr>
          <a:lstStyle/>
          <a:p>
            <a:pPr marL="0" indent="0">
              <a:lnSpc>
                <a:spcPct val="120000"/>
              </a:lnSpc>
              <a:buNone/>
            </a:pPr>
            <a:r>
              <a:rPr lang="en-US" sz="9600" dirty="0"/>
              <a:t>The Human Stampede Prediction System is designed to enhance public safety during crowded events by monitoring crowd density in real time. The system uses a Raspberry Pi as the main processing unit along with a USB web camera to capture images of the crowd. A memory card is used to store the operating system, processing software, and captured data. The acquired images or video frames are analyzed to count the number of people present in the monitored area. When the crowd count exceeds a predefined safety threshold, the system triggers a buzzer and sends alert notifications through a GSM module to inform security personnel or event organizers. Powered by a compact power supply, the system enables continuous monitoring and rapid response to potential risk situations. This prototype demonstrates the effective integration of IoT and computer vision techniques for real-time crowd management and early warning systems at public events.</a:t>
            </a:r>
          </a:p>
          <a:p>
            <a:pPr marL="0" indent="0">
              <a:lnSpc>
                <a:spcPct val="120000"/>
              </a:lnSpc>
              <a:buNone/>
            </a:pPr>
            <a:endParaRPr lang="en-US" sz="9600" dirty="0"/>
          </a:p>
          <a:p>
            <a:pPr marL="0" indent="0" algn="l">
              <a:buNone/>
            </a:pPr>
            <a:r>
              <a:rPr lang="en-US" sz="9600" b="1" dirty="0" err="1"/>
              <a:t>Keywords:</a:t>
            </a:r>
            <a:r>
              <a:rPr lang="en-US" sz="9600" dirty="0" err="1"/>
              <a:t>CrowdMonitoring</a:t>
            </a:r>
            <a:r>
              <a:rPr lang="en-US" sz="9600" dirty="0"/>
              <a:t>, </a:t>
            </a:r>
            <a:r>
              <a:rPr lang="en-US" sz="9600" dirty="0" err="1"/>
              <a:t>RaspberryPi</a:t>
            </a:r>
            <a:r>
              <a:rPr lang="en-US" sz="9600" dirty="0"/>
              <a:t>, </a:t>
            </a:r>
            <a:r>
              <a:rPr lang="en-US" sz="9600" dirty="0" err="1"/>
              <a:t>ComputerVision</a:t>
            </a:r>
            <a:r>
              <a:rPr lang="en-US" sz="9600" dirty="0"/>
              <a:t>, </a:t>
            </a:r>
            <a:r>
              <a:rPr lang="en-US" sz="9600" dirty="0" err="1"/>
              <a:t>GSMAlerts,Stampede</a:t>
            </a:r>
            <a:r>
              <a:rPr lang="en-US" sz="9600" dirty="0"/>
              <a:t> Prediction.</a:t>
            </a:r>
          </a:p>
          <a:p>
            <a:pPr marL="0" indent="0">
              <a:buNone/>
            </a:pPr>
            <a:endParaRPr lang="en-IN" dirty="0"/>
          </a:p>
        </p:txBody>
      </p:sp>
    </p:spTree>
    <p:extLst>
      <p:ext uri="{BB962C8B-B14F-4D97-AF65-F5344CB8AC3E}">
        <p14:creationId xmlns:p14="http://schemas.microsoft.com/office/powerpoint/2010/main" val="125588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p:txBody>
          <a:bodyPr>
            <a:noAutofit/>
          </a:bodyPr>
          <a:lstStyle/>
          <a:p>
            <a:pPr>
              <a:lnSpc>
                <a:spcPct val="100000"/>
              </a:lnSpc>
            </a:pPr>
            <a:r>
              <a:rPr lang="en-US" sz="2400" dirty="0"/>
              <a:t>Crowd safety is a major concern during large public gatherings where overcrowding can lead to stampede incidents.</a:t>
            </a:r>
          </a:p>
          <a:p>
            <a:pPr>
              <a:lnSpc>
                <a:spcPct val="100000"/>
              </a:lnSpc>
            </a:pPr>
            <a:r>
              <a:rPr lang="en-US" sz="2400" dirty="0"/>
              <a:t>Traditional crowd monitoring systems rely on manual observation and CCTV, making real-time crowd analysis difficult..</a:t>
            </a:r>
          </a:p>
          <a:p>
            <a:pPr>
              <a:lnSpc>
                <a:spcPct val="100000"/>
              </a:lnSpc>
            </a:pPr>
            <a:r>
              <a:rPr lang="en-US" sz="2400" dirty="0"/>
              <a:t>Advances in computer vision and IoT enable automated monitoring and early detection of unsafe crowd conditions.</a:t>
            </a:r>
          </a:p>
          <a:p>
            <a:pPr>
              <a:lnSpc>
                <a:spcPct val="100000"/>
              </a:lnSpc>
            </a:pPr>
            <a:r>
              <a:rPr lang="en-US" sz="2400" dirty="0"/>
              <a:t>This project develops a Human Stampede Prediction System using a camera-based surveillance approach.</a:t>
            </a:r>
          </a:p>
          <a:p>
            <a:pPr>
              <a:lnSpc>
                <a:spcPct val="100000"/>
              </a:lnSpc>
            </a:pPr>
            <a:r>
              <a:rPr lang="en-US" sz="2400" dirty="0"/>
              <a:t>A Raspberry Pi and USB web camera are used to capture and process crowd images for people counting.</a:t>
            </a:r>
          </a:p>
          <a:p>
            <a:pPr>
              <a:lnSpc>
                <a:spcPct val="100000"/>
              </a:lnSpc>
            </a:pPr>
            <a:r>
              <a:rPr lang="en-US" sz="2400" dirty="0"/>
              <a:t>When crowd density exceeds safe limits, the system generates real-time alerts to prevent stampede situations.</a:t>
            </a:r>
          </a:p>
          <a:p>
            <a:pPr>
              <a:lnSpc>
                <a:spcPct val="100000"/>
              </a:lnSpc>
            </a:pP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p:cNvSpPr>
            <a:spLocks noGrp="1"/>
          </p:cNvSpPr>
          <p:nvPr>
            <p:ph idx="1"/>
          </p:nvPr>
        </p:nvSpPr>
        <p:spPr/>
        <p:txBody>
          <a:bodyPr>
            <a:normAutofit/>
          </a:bodyPr>
          <a:lstStyle/>
          <a:p>
            <a:pPr marL="0" indent="0">
              <a:buNone/>
            </a:pPr>
            <a:endParaRPr lang="en-US" sz="2400" b="1" dirty="0"/>
          </a:p>
          <a:p>
            <a:pPr marL="0" indent="0">
              <a:buNone/>
            </a:pPr>
            <a:r>
              <a:rPr lang="en-US" sz="2400" b="1" dirty="0"/>
              <a:t>Findings:</a:t>
            </a:r>
          </a:p>
          <a:p>
            <a:pPr marL="0" indent="0">
              <a:buNone/>
            </a:pPr>
            <a:r>
              <a:rPr lang="en-US" sz="2400" dirty="0"/>
              <a:t>Previous studies indicate that automated crowd monitoring systems using image processing and computer vision techniques provide better accuracy than manual surveillance. Real-time crowd counting and density estimation help identify potential risk zones effectively.</a:t>
            </a:r>
          </a:p>
          <a:p>
            <a:pPr marL="0" indent="0">
              <a:buNone/>
            </a:pPr>
            <a:r>
              <a:rPr lang="en-US" sz="2400" b="1" dirty="0"/>
              <a:t>Methodology:</a:t>
            </a:r>
          </a:p>
          <a:p>
            <a:pPr marL="0" indent="0">
              <a:buNone/>
            </a:pPr>
            <a:r>
              <a:rPr lang="en-US" sz="2400" dirty="0"/>
              <a:t>Most existing approaches use camera-based surveillance combined with image processing or deep learning models to detect people and estimate crowd density. Some systems integrate IoT modules to send alerts during emergency situations.</a:t>
            </a:r>
            <a:endParaRPr lang="en-US" sz="2400"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EE337-9543-4A6B-23A8-15186CADF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713B7-91E6-10DE-82DB-5476EB1A722E}"/>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CF584480-7D41-565F-E827-A3048A15B38B}"/>
              </a:ext>
            </a:extLst>
          </p:cNvPr>
          <p:cNvSpPr>
            <a:spLocks noGrp="1"/>
          </p:cNvSpPr>
          <p:nvPr>
            <p:ph idx="1"/>
          </p:nvPr>
        </p:nvSpPr>
        <p:spPr/>
        <p:txBody>
          <a:bodyPr>
            <a:normAutofit/>
          </a:bodyPr>
          <a:lstStyle/>
          <a:p>
            <a:pPr marL="0" indent="0">
              <a:buNone/>
            </a:pPr>
            <a:endParaRPr lang="en-US" sz="2400" b="1" dirty="0"/>
          </a:p>
          <a:p>
            <a:pPr marL="0" indent="0">
              <a:buNone/>
            </a:pPr>
            <a:r>
              <a:rPr lang="en-US" sz="2400" b="1" dirty="0"/>
              <a:t>Research gap:</a:t>
            </a:r>
          </a:p>
          <a:p>
            <a:pPr marL="0" indent="0">
              <a:buNone/>
            </a:pPr>
            <a:r>
              <a:rPr lang="en-US" sz="2400" dirty="0"/>
              <a:t>Many existing systems lack efficient real-time alert mechanisms and are not optimized for low-cost edge devices. There is a need for a scalable, real-time, and automated crowd monitoring system that can operate effectively in resource-constrained environments and provide early warnings to prevent stampedes.</a:t>
            </a:r>
          </a:p>
        </p:txBody>
      </p:sp>
    </p:spTree>
    <p:extLst>
      <p:ext uri="{BB962C8B-B14F-4D97-AF65-F5344CB8AC3E}">
        <p14:creationId xmlns:p14="http://schemas.microsoft.com/office/powerpoint/2010/main" val="3146969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503A2-946A-2CC1-F24E-480A2AB7C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BBE54-65C7-D9E5-FFE4-EBFD0C056462}"/>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6193366A-10A0-FA27-24EB-AC31E100E25A}"/>
              </a:ext>
            </a:extLst>
          </p:cNvPr>
          <p:cNvSpPr>
            <a:spLocks noGrp="1"/>
          </p:cNvSpPr>
          <p:nvPr>
            <p:ph idx="1"/>
          </p:nvPr>
        </p:nvSpPr>
        <p:spPr/>
        <p:txBody>
          <a:bodyPr>
            <a:normAutofit fontScale="92500" lnSpcReduction="10000"/>
          </a:bodyPr>
          <a:lstStyle/>
          <a:p>
            <a:pPr marL="0" indent="0">
              <a:lnSpc>
                <a:spcPct val="100000"/>
              </a:lnSpc>
              <a:buNone/>
            </a:pPr>
            <a:r>
              <a:rPr lang="en-US" sz="2400" b="1" dirty="0"/>
              <a:t>Kaka Khel et. al. [1]</a:t>
            </a:r>
            <a:r>
              <a:rPr lang="en-US" sz="2400" dirty="0"/>
              <a:t>, have proposed a real-time crowd monitoring system using a </a:t>
            </a:r>
            <a:r>
              <a:rPr lang="en-US" sz="2400" b="1" dirty="0"/>
              <a:t>hybridized YOLOv4 deep learning model</a:t>
            </a:r>
            <a:r>
              <a:rPr lang="en-US" sz="2400" dirty="0"/>
              <a:t>. The proposed approach focuses on estimating crowd count, movement direction, and speed of people in highly dense environments. The model achieves high accuracy while reducing computational complexity, making it suitable for real-time applications and edge devices. Their work highlights the importance of accurate crowd analysis to prevent overcrowding and potential stampede situations.</a:t>
            </a:r>
          </a:p>
          <a:p>
            <a:pPr marL="0" indent="0">
              <a:lnSpc>
                <a:spcPct val="100000"/>
              </a:lnSpc>
              <a:buNone/>
            </a:pPr>
            <a:r>
              <a:rPr lang="en-US" sz="2400" b="1" dirty="0"/>
              <a:t>Zia-ul-Rehman et. al. [2]</a:t>
            </a:r>
            <a:r>
              <a:rPr lang="en-US" sz="2400" dirty="0"/>
              <a:t>, have presented an </a:t>
            </a:r>
            <a:r>
              <a:rPr lang="en-US" sz="2400" b="1" dirty="0"/>
              <a:t>AI and IoT-based framework</a:t>
            </a:r>
            <a:r>
              <a:rPr lang="en-US" sz="2400" dirty="0"/>
              <a:t> for real-time crowd monitoring and security in large public gatherings. Their system integrates surveillance cameras, IoT sensors, and deep learning models to detect abnormal crowd behavior such as pushing and panic situations. The study demonstrates improved real-time response and emphasizes automated alert mechanisms for enhancing public safety.</a:t>
            </a:r>
          </a:p>
          <a:p>
            <a:pPr marL="0" indent="0">
              <a:lnSpc>
                <a:spcPct val="100000"/>
              </a:lnSpc>
              <a:buNone/>
            </a:pPr>
            <a:r>
              <a:rPr lang="en-US" sz="2400" b="1" dirty="0"/>
              <a:t>Pratap et. al. [3]</a:t>
            </a:r>
            <a:r>
              <a:rPr lang="en-US" sz="2400" dirty="0"/>
              <a:t>, have analyzed historical stampede incidents using </a:t>
            </a:r>
            <a:r>
              <a:rPr lang="en-US" sz="2400" b="1" dirty="0"/>
              <a:t>machine learning and natural language processing techniques</a:t>
            </a:r>
            <a:r>
              <a:rPr lang="en-US" sz="2400" dirty="0"/>
              <a:t>. Their research identifies key factors such as overcrowding, narrow pathways, and delayed response as major causes of stampede events. The study concludes that predictive analysis combined with real-time monitoring can significantly reduce stampede risks during mass gatherings.</a:t>
            </a:r>
            <a:endParaRPr lang="en-US" sz="2400" dirty="0">
              <a:solidFill>
                <a:srgbClr val="FF0000"/>
              </a:solidFill>
            </a:endParaRPr>
          </a:p>
          <a:p>
            <a:pPr marL="0" indent="0">
              <a:lnSpc>
                <a:spcPct val="150000"/>
              </a:lnSpc>
              <a:buNone/>
            </a:pPr>
            <a:endParaRPr lang="en-US" sz="2400" dirty="0">
              <a:solidFill>
                <a:srgbClr val="FF0000"/>
              </a:solidFill>
            </a:endParaRPr>
          </a:p>
        </p:txBody>
      </p:sp>
    </p:spTree>
    <p:extLst>
      <p:ext uri="{BB962C8B-B14F-4D97-AF65-F5344CB8AC3E}">
        <p14:creationId xmlns:p14="http://schemas.microsoft.com/office/powerpoint/2010/main" val="428804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A1F7D-530C-AF1C-3408-5BFF8D496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852FF-8994-9D6E-AAE1-E14D2C0F9A77}"/>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739758CB-8AFF-5E56-AD3B-88CF87A31FA5}"/>
              </a:ext>
            </a:extLst>
          </p:cNvPr>
          <p:cNvSpPr>
            <a:spLocks noGrp="1"/>
          </p:cNvSpPr>
          <p:nvPr>
            <p:ph idx="1"/>
          </p:nvPr>
        </p:nvSpPr>
        <p:spPr/>
        <p:txBody>
          <a:bodyPr/>
          <a:lstStyle/>
          <a:p>
            <a:pPr marL="0" indent="0">
              <a:lnSpc>
                <a:spcPct val="100000"/>
              </a:lnSpc>
              <a:buNone/>
            </a:pPr>
            <a:r>
              <a:rPr lang="en-US" sz="2400" b="1" dirty="0"/>
              <a:t>Helbing and Molnar [4]</a:t>
            </a:r>
            <a:r>
              <a:rPr lang="en-US" sz="2400" dirty="0"/>
              <a:t>, have proposed the </a:t>
            </a:r>
            <a:r>
              <a:rPr lang="en-US" sz="2400" b="1" dirty="0"/>
              <a:t>Social Force Model for pedestrian dynamics</a:t>
            </a:r>
            <a:r>
              <a:rPr lang="en-US" sz="2400" dirty="0"/>
              <a:t>, which explains crowd movement based on interaction forces between individuals and their environment. The model represents pedestrian behavior using attractive and repulsive forces to simulate motion, congestion, and panic situations. This approach has been widely used to analyze crowd behavior, evacuation scenarios, and stampede formation, providing a strong theoretical foundation for understanding pedestrian dynamics in high-density environments</a:t>
            </a:r>
          </a:p>
          <a:p>
            <a:pPr marL="0" indent="0">
              <a:lnSpc>
                <a:spcPct val="100000"/>
              </a:lnSpc>
              <a:buNone/>
            </a:pPr>
            <a:endParaRPr lang="en-US" sz="2400" dirty="0">
              <a:solidFill>
                <a:srgbClr val="FF0000"/>
              </a:solidFill>
            </a:endParaRPr>
          </a:p>
          <a:p>
            <a:pPr marL="0" indent="0">
              <a:lnSpc>
                <a:spcPct val="150000"/>
              </a:lnSpc>
              <a:buNone/>
            </a:pPr>
            <a:endParaRPr lang="en-US" sz="2400" dirty="0">
              <a:solidFill>
                <a:srgbClr val="FF0000"/>
              </a:solidFill>
            </a:endParaRPr>
          </a:p>
        </p:txBody>
      </p:sp>
    </p:spTree>
    <p:extLst>
      <p:ext uri="{BB962C8B-B14F-4D97-AF65-F5344CB8AC3E}">
        <p14:creationId xmlns:p14="http://schemas.microsoft.com/office/powerpoint/2010/main" val="4137936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buNone/>
            </a:pPr>
            <a:r>
              <a:rPr lang="en-US" sz="2400" dirty="0"/>
              <a:t>Existing crowd monitoring systems primarily rely on manual observation and traditional CCTV surveillance to manage large public gatherings. Security personnel are responsible for visually estimating crowd density, which is time-consuming, inaccurate, and highly dependent on human judgment. In large and densely populated events, this approach becomes ineffective due to limited visibility and delayed interpretation of situations. Some existing systems use basic image processing techniques for crowd analysis; however, they lack automation, scalability, and real-time decision-making capabilities. These systems do not provide instant alerts or early warnings when crowd density reaches unsafe levels. As a result, responses to critical situations are often delayed, increasing the risk of congestion, panic, and stampede incidents, thereby compromising public safety.</a:t>
            </a:r>
          </a:p>
        </p:txBody>
      </p:sp>
    </p:spTree>
    <p:extLst>
      <p:ext uri="{BB962C8B-B14F-4D97-AF65-F5344CB8AC3E}">
        <p14:creationId xmlns:p14="http://schemas.microsoft.com/office/powerpoint/2010/main" val="152032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lnSpc>
                <a:spcPct val="100000"/>
              </a:lnSpc>
              <a:buNone/>
            </a:pPr>
            <a:r>
              <a:rPr lang="en-US" sz="2400" dirty="0"/>
              <a:t>The proposed system introduces an automated Human Stampede Prediction System designed to enhance crowd safety during mass gatherings. The system uses a camera-based surveillance approach to continuously monitor crowd density in real time. A USB web camera captures live images of the crowd, which are processed using image processing and computer vision techniques to detect and count the number of individuals present in a monitored area. A Raspberry Pi acts as the central processing unit, handling image analysis and decision-making efficiently on an edge device. When the calculated crowd density exceeds predefined safety thresholds, the system immediately triggers alert mechanisms such as a buzzer and GSM-based notifications to inform security personnel or event organizers. This real-time alerting enables quick preventive actions to control crowd movement and reduce the risk of stampede incidents. The proposed system is cost-effective, scalable, and suitable for deployment in public events, festivals, religious gatherings, and other high-density environments, thereby improving overall public safety.</a:t>
            </a:r>
            <a:endParaRPr lang="en-IN" sz="2400" dirty="0"/>
          </a:p>
        </p:txBody>
      </p:sp>
    </p:spTree>
    <p:extLst>
      <p:ext uri="{BB962C8B-B14F-4D97-AF65-F5344CB8AC3E}">
        <p14:creationId xmlns:p14="http://schemas.microsoft.com/office/powerpoint/2010/main" val="172222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pPr algn="ctr"/>
            <a:r>
              <a:rPr lang="en-US"/>
              <a:t>Planning &amp; Design</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0" indent="0">
              <a:lnSpc>
                <a:spcPct val="100000"/>
              </a:lnSpc>
              <a:buNone/>
            </a:pPr>
            <a:r>
              <a:rPr lang="en-IN" sz="2400" b="1" dirty="0"/>
              <a:t>PLANNING:</a:t>
            </a:r>
          </a:p>
          <a:p>
            <a:r>
              <a:rPr lang="en-US" sz="2400" dirty="0"/>
              <a:t>Identify the need for a stampede prediction system</a:t>
            </a:r>
          </a:p>
          <a:p>
            <a:r>
              <a:rPr lang="en-US" sz="2400" dirty="0"/>
              <a:t>Select appropriate hardware components such as camera and Raspberry Pi</a:t>
            </a:r>
          </a:p>
          <a:p>
            <a:r>
              <a:rPr lang="en-IN" sz="2400" dirty="0"/>
              <a:t>Define crowd density thresholds</a:t>
            </a:r>
          </a:p>
          <a:p>
            <a:r>
              <a:rPr lang="en-US" sz="2400" dirty="0"/>
              <a:t>Plan real-time monitoring and alert mechanisms</a:t>
            </a:r>
          </a:p>
          <a:p>
            <a:r>
              <a:rPr lang="en-US" sz="2400" dirty="0"/>
              <a:t>Decide hardware and software requirements</a:t>
            </a:r>
          </a:p>
          <a:p>
            <a:pPr marL="0" indent="0">
              <a:buNone/>
            </a:pPr>
            <a:endParaRPr lang="en-US" sz="2400" dirty="0"/>
          </a:p>
          <a:p>
            <a:pPr marL="0" indent="0">
              <a:buNone/>
            </a:pPr>
            <a:endParaRPr lang="en-IN" dirty="0"/>
          </a:p>
        </p:txBody>
      </p:sp>
    </p:spTree>
    <p:extLst>
      <p:ext uri="{BB962C8B-B14F-4D97-AF65-F5344CB8AC3E}">
        <p14:creationId xmlns:p14="http://schemas.microsoft.com/office/powerpoint/2010/main" val="621041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1D806-6ED6-7724-0032-EFE8F44F9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57EA7-082C-6244-51A0-158C05D2964F}"/>
              </a:ext>
            </a:extLst>
          </p:cNvPr>
          <p:cNvSpPr>
            <a:spLocks noGrp="1"/>
          </p:cNvSpPr>
          <p:nvPr>
            <p:ph type="title"/>
          </p:nvPr>
        </p:nvSpPr>
        <p:spPr>
          <a:xfrm>
            <a:off x="0" y="232759"/>
            <a:ext cx="12192000" cy="714892"/>
          </a:xfrm>
        </p:spPr>
        <p:txBody>
          <a:bodyPr/>
          <a:lstStyle/>
          <a:p>
            <a:pPr algn="ctr"/>
            <a:r>
              <a:rPr lang="en-US"/>
              <a:t>Planning &amp; Design</a:t>
            </a:r>
            <a:endParaRPr lang="en-IN" dirty="0"/>
          </a:p>
        </p:txBody>
      </p:sp>
      <p:sp>
        <p:nvSpPr>
          <p:cNvPr id="3" name="Content Placeholder 2">
            <a:extLst>
              <a:ext uri="{FF2B5EF4-FFF2-40B4-BE49-F238E27FC236}">
                <a16:creationId xmlns:a16="http://schemas.microsoft.com/office/drawing/2014/main" id="{F4B76F1F-E9F7-5739-9B92-C22DDDE4A154}"/>
              </a:ext>
            </a:extLst>
          </p:cNvPr>
          <p:cNvSpPr>
            <a:spLocks noGrp="1"/>
          </p:cNvSpPr>
          <p:nvPr>
            <p:ph idx="1"/>
          </p:nvPr>
        </p:nvSpPr>
        <p:spPr/>
        <p:txBody>
          <a:bodyPr>
            <a:normAutofit/>
          </a:bodyPr>
          <a:lstStyle/>
          <a:p>
            <a:pPr marL="0" indent="0">
              <a:lnSpc>
                <a:spcPct val="100000"/>
              </a:lnSpc>
              <a:buNone/>
            </a:pPr>
            <a:r>
              <a:rPr lang="en-IN" sz="2400" b="1" dirty="0"/>
              <a:t>DESIGNING:</a:t>
            </a:r>
          </a:p>
          <a:p>
            <a:r>
              <a:rPr lang="en-US" sz="2400" dirty="0"/>
              <a:t>Design system architecture for crowd detection</a:t>
            </a:r>
          </a:p>
          <a:p>
            <a:r>
              <a:rPr lang="en-US" sz="2400" dirty="0"/>
              <a:t>Integrate camera with processing unit</a:t>
            </a:r>
          </a:p>
          <a:p>
            <a:r>
              <a:rPr lang="en-IN" sz="2400" dirty="0"/>
              <a:t>Develop crowd counting logic</a:t>
            </a:r>
          </a:p>
          <a:p>
            <a:r>
              <a:rPr lang="en-IN" sz="2400" dirty="0"/>
              <a:t>Design alert notification mechanism</a:t>
            </a:r>
          </a:p>
          <a:p>
            <a:r>
              <a:rPr lang="en-US" sz="2400" dirty="0"/>
              <a:t>Ensure system scalability and real-time performance</a:t>
            </a:r>
          </a:p>
          <a:p>
            <a:endParaRPr lang="en-IN" dirty="0"/>
          </a:p>
        </p:txBody>
      </p:sp>
    </p:spTree>
    <p:extLst>
      <p:ext uri="{BB962C8B-B14F-4D97-AF65-F5344CB8AC3E}">
        <p14:creationId xmlns:p14="http://schemas.microsoft.com/office/powerpoint/2010/main" val="110904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Autofit/>
          </a:bodyPr>
          <a:lstStyle/>
          <a:p>
            <a:r>
              <a:rPr lang="en-IN" sz="2400" dirty="0"/>
              <a:t>[1]. D. Helbing and P. Molnar, </a:t>
            </a:r>
            <a:r>
              <a:rPr lang="en-IN" sz="2400" b="1" dirty="0"/>
              <a:t>“</a:t>
            </a:r>
            <a:r>
              <a:rPr lang="en-IN" sz="2400" dirty="0">
                <a:hlinkClick r:id="rId2"/>
              </a:rPr>
              <a:t>Social force model for pedestrian dynamics,</a:t>
            </a:r>
            <a:r>
              <a:rPr lang="en-IN" sz="2400" b="1" dirty="0"/>
              <a:t>”</a:t>
            </a:r>
            <a:r>
              <a:rPr lang="en-IN" sz="2400" dirty="0"/>
              <a:t> </a:t>
            </a:r>
            <a:r>
              <a:rPr lang="en-IN" sz="2400" i="1" dirty="0"/>
              <a:t>Physical Review E</a:t>
            </a:r>
            <a:r>
              <a:rPr lang="en-IN" sz="2400" dirty="0"/>
              <a:t>, vol. 51, no. 5, pp. 4282–4286, May 1995.</a:t>
            </a:r>
          </a:p>
          <a:p>
            <a:r>
              <a:rPr lang="en-IN" sz="2400" dirty="0"/>
              <a:t>[2]. M. H. K. Khel, K. A. Kadir, S. Khan, M. N. Noor, H. Nasir and A. Khan, </a:t>
            </a:r>
            <a:r>
              <a:rPr lang="en-IN" sz="2400" b="1" dirty="0"/>
              <a:t>“</a:t>
            </a:r>
            <a:r>
              <a:rPr lang="en-IN" sz="2400" dirty="0">
                <a:hlinkClick r:id="rId2"/>
              </a:rPr>
              <a:t>Realtime crowd monitoring—estimating count, speed and direction of people using hybridized YOLOv4</a:t>
            </a:r>
            <a:r>
              <a:rPr lang="en-IN" sz="2400" b="1" dirty="0"/>
              <a:t>,”</a:t>
            </a:r>
            <a:r>
              <a:rPr lang="en-IN" sz="2400" dirty="0"/>
              <a:t> </a:t>
            </a:r>
            <a:r>
              <a:rPr lang="en-IN" sz="2400" i="1" dirty="0"/>
              <a:t>IEEE Access</a:t>
            </a:r>
            <a:r>
              <a:rPr lang="en-IN" sz="2400" dirty="0"/>
              <a:t>, vol. 11, pp. 56368–56379, May 2023.</a:t>
            </a:r>
          </a:p>
          <a:p>
            <a:r>
              <a:rPr lang="en-IN" sz="2400" dirty="0"/>
              <a:t>[3]. M. Zia-ul-Rehman, M. Azam, A. Hussain, M. Altaf, N. Siddiqui and L. Khan, </a:t>
            </a:r>
            <a:r>
              <a:rPr lang="en-IN" sz="2400" b="1" dirty="0"/>
              <a:t>“</a:t>
            </a:r>
            <a:r>
              <a:rPr lang="en-IN" sz="2400" dirty="0">
                <a:hlinkClick r:id="rId2"/>
              </a:rPr>
              <a:t>AI and IoT-based frameworks for real-time crowd monitoring and security,</a:t>
            </a:r>
            <a:r>
              <a:rPr lang="en-IN" sz="2400" b="1" dirty="0"/>
              <a:t>”</a:t>
            </a:r>
            <a:r>
              <a:rPr lang="en-IN" sz="2400" dirty="0"/>
              <a:t> </a:t>
            </a:r>
            <a:r>
              <a:rPr lang="en-IN" sz="2400" i="1" dirty="0"/>
              <a:t>Annual Methodological Archive Research Review</a:t>
            </a:r>
            <a:r>
              <a:rPr lang="en-IN" sz="2400" dirty="0"/>
              <a:t>, vol. 3, no. 5, pp. 292–299, May 2025.</a:t>
            </a:r>
          </a:p>
          <a:p>
            <a:r>
              <a:rPr lang="en-IN" sz="2400" dirty="0"/>
              <a:t>[4]. J. López, V. Mazzone, M. L. Rubio Puzzo and J. C. Moreno, </a:t>
            </a:r>
            <a:r>
              <a:rPr lang="en-IN" sz="2400" b="1" dirty="0"/>
              <a:t>“</a:t>
            </a:r>
            <a:r>
              <a:rPr lang="en-IN" sz="2400" dirty="0">
                <a:hlinkClick r:id="rId2"/>
              </a:rPr>
              <a:t>An evacuation simulator for pedestrian dynamics based on the social force model</a:t>
            </a:r>
            <a:r>
              <a:rPr lang="en-IN" sz="2400" b="1" dirty="0"/>
              <a:t>,”</a:t>
            </a:r>
            <a:r>
              <a:rPr lang="en-IN" sz="2400" dirty="0"/>
              <a:t> </a:t>
            </a:r>
            <a:r>
              <a:rPr lang="en-IN" sz="2400" i="1" dirty="0" err="1"/>
              <a:t>arXiv</a:t>
            </a:r>
            <a:r>
              <a:rPr lang="en-IN" sz="2400" i="1" dirty="0"/>
              <a:t> preprint arXiv:2512.16887</a:t>
            </a:r>
            <a:r>
              <a:rPr lang="en-IN" sz="2400" dirty="0"/>
              <a:t>, Dec. 2025.</a:t>
            </a:r>
          </a:p>
          <a:p>
            <a:pPr marL="0" indent="0">
              <a:buNone/>
            </a:pPr>
            <a:endParaRPr lang="en-IN"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833</TotalTime>
  <Words>1501</Words>
  <Application>Microsoft Office PowerPoint</Application>
  <PresentationFormat>Widescreen</PresentationFormat>
  <Paragraphs>84</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Courier New</vt:lpstr>
      <vt:lpstr>Times New Roman</vt:lpstr>
      <vt:lpstr>Wingdings</vt:lpstr>
      <vt:lpstr>Custom Design</vt:lpstr>
      <vt:lpstr>PowerPoint Presentation</vt:lpstr>
      <vt:lpstr>PowerPoint Presentation</vt:lpstr>
      <vt:lpstr>Contents</vt:lpstr>
      <vt:lpstr>Abstract</vt:lpstr>
      <vt:lpstr>Introduction</vt:lpstr>
      <vt:lpstr>  Literature survey</vt:lpstr>
      <vt:lpstr>  Literature survey</vt:lpstr>
      <vt:lpstr>  Literature survey</vt:lpstr>
      <vt:lpstr>  Literature survey</vt:lpstr>
      <vt:lpstr>Existing System</vt:lpstr>
      <vt:lpstr>Proposed System</vt:lpstr>
      <vt:lpstr>Planning &amp; Design</vt:lpstr>
      <vt:lpstr>Planning &amp; Design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dc:creator>
  <cp:lastModifiedBy>vinay kumar</cp:lastModifiedBy>
  <cp:revision>121</cp:revision>
  <dcterms:created xsi:type="dcterms:W3CDTF">2019-06-11T05:35:00Z</dcterms:created>
  <dcterms:modified xsi:type="dcterms:W3CDTF">2025-12-24T07:56:56Z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